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  <p:bold r:id="rId15"/>
    </p:embeddedFont>
    <p:embeddedFont>
      <p:font typeface="Roboto Bold" panose="02000000000000000000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19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jpeg"/><Relationship Id="rId10" Type="http://schemas.openxmlformats.org/officeDocument/2006/relationships/image" Target="../media/image20.png"/><Relationship Id="rId4" Type="http://schemas.openxmlformats.org/officeDocument/2006/relationships/image" Target="../media/image14.jpe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5701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Edge-AI Based Distributed Fleet Coordination for Autonomous Mobile Robots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204567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Decentralized Intelligence for Faster, Safer and More Resilient Smart Warehouses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078585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depending on one central controller, every robot can perceive, decide, communicate and coordinate locally.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Horizon 2.0 • Team / College : Matoshri College Of Engineering And Research Center Nashik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387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What’s Broken in Today’s Warehouse Robotics?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52712"/>
            <a:ext cx="6918350" cy="3920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4074" y="1445617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fleet challenges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4074" y="1868388"/>
            <a:ext cx="3532397" cy="204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bottleneck — single decision point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latency and Wi‑Fi dead zones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point of failure causes fleet pause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Stop‑and‑wait behavior at choke points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Inefficient task allocation; poor local adaptability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4074" y="4053880"/>
            <a:ext cx="353239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scenario: Two robots reach a narrow aisle → both wait for central command → congestion and lost time.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04074" y="5012234"/>
            <a:ext cx="3532397" cy="1148655"/>
          </a:xfrm>
          <a:prstGeom prst="roundRect">
            <a:avLst>
              <a:gd name="adj" fmla="val 6263"/>
            </a:avLst>
          </a:prstGeom>
          <a:solidFill>
            <a:srgbClr val="E1E1E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321" y="5244405"/>
            <a:ext cx="214109" cy="171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60677" y="5194697"/>
            <a:ext cx="280454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fleets scale, central coordination becomes a time and reliability bottleneck.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FECD1-7597-A817-7871-451D95BA8844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835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Solution: Distributed Edge‑AI Fleet Intelligence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576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AMR: Perceive → Decide → Communicate → Coordinate → Act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72718"/>
            <a:ext cx="1004962" cy="6211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02670" y="3172718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AI inference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902670" y="3581400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run on-board (Jetson / CPU) for perception and short‑horizon planning.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172718"/>
            <a:ext cx="1004962" cy="6211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04330" y="3172718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Peer negotiation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604330" y="3581400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Robots share position, intent and negotiate conflicts locally.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172718"/>
            <a:ext cx="1004962" cy="6211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5990" y="3172718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re‑planning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305990" y="3876675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re-routing and task reallocation without central approval.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00370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271393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23994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server remains optional for monitoring, analytics and high‑level management.</a:t>
            </a:r>
            <a:endParaRPr lang="en-US" sz="14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EB7FD6-764D-21B1-9A90-DA90B14A62B4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Warehouse Event to Autonomous Action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133" y="909538"/>
            <a:ext cx="6047331" cy="604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9492" y="2090817"/>
            <a:ext cx="194853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Perceive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659492" y="2483455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LiDAR, camera, IMU sense environment.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94018" y="2090817"/>
            <a:ext cx="194853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 AI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94018" y="2483455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detection and short‑term prediction.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9662" y="5025246"/>
            <a:ext cx="1948538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Decision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659662" y="5417884"/>
            <a:ext cx="1948538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path and avoid collisions locally.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94018" y="5025246"/>
            <a:ext cx="1948539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94018" y="5417884"/>
            <a:ext cx="1948539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P2P share position, intent, priority.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701000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Robot A detects blocked aisle → broadcasts obstacle → Robot B receives → both re‑plan locally → fleet proceeds.</a:t>
            </a:r>
            <a:endParaRPr lang="en-US" sz="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F1776-E475-FBCC-8BC8-F01F1502DA05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Do Robots Coordinate Without a Central Controller?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15605"/>
            <a:ext cx="5221851" cy="295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4719" y="201037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Peer Broadcasts (periodic)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14719" y="2443163"/>
            <a:ext cx="5221851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 • Velocity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task • Planned path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Intended direction • Obstacle info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level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14719" y="3843437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Conflict resolution (local)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14719" y="4276229"/>
            <a:ext cx="5221851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path overlap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priority / ETA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Negotiate: adjust speed or replan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and continue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14719" y="5660430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Key: distributed decisions and deadlock prevention — robots negotiate instead of simply stopping.</a:t>
            </a:r>
            <a:endParaRPr lang="en-US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F9B52-038A-9747-12DB-E19504893001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49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Intelligence Running at the Edge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03587"/>
            <a:ext cx="2575357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98948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Perception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107630"/>
            <a:ext cx="21846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Lightweight detection (YOLO variants), semantic cues, LiDAR-based obstacle sensing.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503587"/>
            <a:ext cx="2575456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195" y="2698948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Localization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21195" y="3107630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SLAM + IMU + odometry fusion for robust pose estimate.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503587"/>
            <a:ext cx="2575456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2698948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Path Planning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107630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/ D* Lite with dynamic replanning and velocity profiling for safety.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503587"/>
            <a:ext cx="2575456" cy="2304355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121" y="2698948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Multi‑Agent Coordination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50121" y="3402905"/>
            <a:ext cx="21847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negotiation, distributed task allocation, conflict detection.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02056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targets: NVIDIA Jetson-class, industrial ARM boards, or equivalent — optimized models for latency and power.</a:t>
            </a:r>
            <a:endParaRPr lang="en-US" sz="14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53BBF-46C1-89C8-F8FB-08A597F7E8B2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End‑to‑End System Architecture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93044"/>
            <a:ext cx="4657112" cy="46572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9980" y="1954113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Device Layer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49980" y="2386905"/>
            <a:ext cx="5786491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inference, local planning, P2P low‑latency comms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Resilient: continues if server unavailable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49980" y="3139281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 Server Layer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749980" y="3572073"/>
            <a:ext cx="5786491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map, model management, monitoring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Optional central task allocation and analytics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49980" y="4324449"/>
            <a:ext cx="5786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Optional Cloud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49980" y="4757241"/>
            <a:ext cx="639607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Long‑term analytics, dashboards, OTA updates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49980" y="5169595"/>
            <a:ext cx="578649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Protocols: ROS2 / DDS, WebRTC DataChannel, gRPC; Networks: Wi‑Fi6 / 5G / TSN where available.</a:t>
            </a:r>
            <a:endParaRPr lang="en-US" sz="13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469C5-2C20-6617-F7E7-15667F2B0392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59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Distributed Edge‑AI?</a:t>
            </a:r>
            <a:endParaRPr lang="en-US" sz="3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94632"/>
          <a:ext cx="10868746" cy="2709595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Centralized Approach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Distributed Edge‑AI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Central bottleneck; single point of failure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Local decision making; no single decision bottleneck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 dependency on network; greater latency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Low‑latency local response; P2P coordination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Poor resilience during outages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Continues operating during network disruption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Limited local autonomy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Scales across larger fleets with peer negotiation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2296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Three priority outcomes: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LOWER LATENCY • HIGHER RESILIENCE • BETTER FLEET UTILIZATION</a:t>
            </a:r>
            <a:endParaRPr lang="en-US" sz="14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989F6-5C99-12AC-897E-D14F720500F1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955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Plan &amp; Success Criteria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9013"/>
            <a:ext cx="6936011" cy="3930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1360488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scenario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1333" y="1715790"/>
            <a:ext cx="3565138" cy="168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3–5 AMRs, pickup/drop zones, narrow aisles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Overlapping tasks and a choke point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Robots detect conflict, negotiate priority, replan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obstacle blocks aisle → broadcast → fleet reroutes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Simulated network disruption to validate local continuity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71333" y="3519091"/>
            <a:ext cx="3565138" cy="470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Success metrics (TARGET / VALIDATION)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71333" y="4109740"/>
            <a:ext cx="3565138" cy="211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inter‑robot collisions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 conflict resolution and dynamic re‑routing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waiting time and total task completion time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Continued operation during network disruption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≥20% reduction in total task completion time vs basic stop‑and‑wait strategy (expected / to be validated)</a:t>
            </a:r>
            <a:endParaRPr lang="en-US" sz="11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9F078-A98C-BDC4-CB44-C23A81E07D03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758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Smart Robots to an Autonomous Warehouse Fleet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5" y="1152327"/>
            <a:ext cx="3554125" cy="355421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785" y="1152327"/>
            <a:ext cx="3554125" cy="3554214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745" y="1152327"/>
            <a:ext cx="3554125" cy="3554214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73923"/>
            <a:ext cx="302709" cy="30271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61475" y="5273576"/>
            <a:ext cx="35582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benefits</a:t>
            </a:r>
            <a:endParaRPr lang="en-US" sz="1150" dirty="0"/>
          </a:p>
        </p:txBody>
      </p:sp>
      <p:sp>
        <p:nvSpPr>
          <p:cNvPr id="8" name="Text 2"/>
          <p:cNvSpPr/>
          <p:nvPr/>
        </p:nvSpPr>
        <p:spPr>
          <a:xfrm>
            <a:off x="661475" y="5509320"/>
            <a:ext cx="355829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Real‑time coordination • Reduced congestion • Better fleet utilization • Resilient operation</a:t>
            </a:r>
            <a:endParaRPr lang="en-US" sz="9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6701" y="4873923"/>
            <a:ext cx="302709" cy="30271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316701" y="5273576"/>
            <a:ext cx="35582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Roadmap</a:t>
            </a:r>
            <a:endParaRPr lang="en-US" sz="1150" dirty="0"/>
          </a:p>
        </p:txBody>
      </p:sp>
      <p:sp>
        <p:nvSpPr>
          <p:cNvPr id="11" name="Text 4"/>
          <p:cNvSpPr/>
          <p:nvPr/>
        </p:nvSpPr>
        <p:spPr>
          <a:xfrm>
            <a:off x="4316701" y="5509320"/>
            <a:ext cx="355829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Federated learning • Digital twin • Multi‑warehouse coordination • Human‑robot collaboration</a:t>
            </a:r>
            <a:endParaRPr lang="en-US" sz="9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71928" y="4873923"/>
            <a:ext cx="302709" cy="30271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971928" y="5273576"/>
            <a:ext cx="35582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pitch</a:t>
            </a:r>
            <a:endParaRPr lang="en-US" sz="1150" dirty="0"/>
          </a:p>
        </p:txBody>
      </p:sp>
      <p:sp>
        <p:nvSpPr>
          <p:cNvPr id="14" name="Text 6"/>
          <p:cNvSpPr/>
          <p:nvPr/>
        </p:nvSpPr>
        <p:spPr>
          <a:xfrm>
            <a:off x="7971928" y="5509320"/>
            <a:ext cx="355829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fleets wait for instructions. Our fleet perceives, negotiates, adapts and acts.</a:t>
            </a:r>
            <a:endParaRPr lang="en-US" sz="950" dirty="0"/>
          </a:p>
        </p:txBody>
      </p:sp>
      <p:sp>
        <p:nvSpPr>
          <p:cNvPr id="15" name="Text 7"/>
          <p:cNvSpPr/>
          <p:nvPr/>
        </p:nvSpPr>
        <p:spPr>
          <a:xfrm>
            <a:off x="661475" y="5914231"/>
            <a:ext cx="10868745" cy="40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Distributed by design. Intelligent at the edge. Autonomous as a fleet.</a:t>
            </a:r>
            <a:endParaRPr lang="en-US" sz="9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Contact: Tech Horizon 2.0 Team • Demo ready for Tech Horizon 2.0 Hyderabad</a:t>
            </a:r>
            <a:endParaRPr lang="en-US" sz="9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B9CC3E-21A3-FEE4-EFC4-E0D18DC5469E}"/>
              </a:ext>
            </a:extLst>
          </p:cNvPr>
          <p:cNvSpPr txBox="1"/>
          <p:nvPr/>
        </p:nvSpPr>
        <p:spPr>
          <a:xfrm>
            <a:off x="11019453" y="6484774"/>
            <a:ext cx="11725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782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Arial</vt:lpstr>
      <vt:lpstr>Roboto Bold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saurabh goraksha</cp:lastModifiedBy>
  <cp:revision>2</cp:revision>
  <dcterms:created xsi:type="dcterms:W3CDTF">2026-09-05T10:19:11Z</dcterms:created>
  <dcterms:modified xsi:type="dcterms:W3CDTF">2026-09-05T10:23:36Z</dcterms:modified>
</cp:coreProperties>
</file>