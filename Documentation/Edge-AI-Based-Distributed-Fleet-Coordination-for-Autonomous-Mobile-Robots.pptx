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Raleway SemiBold"/>
      <p:regular r:id="rId201314"/>
    </p:embeddedFont>
    <p:embeddedFont>
      <p:font typeface="Raleway Bold"/>
      <p:regular r:id="rId201315"/>
    </p:embeddedFont>
    <p:embeddedFont>
      <p:font typeface="Raleway Black"/>
      <p:regular r:id="rId201316"/>
    </p:embeddedFont>
    <p:embeddedFont>
      <p:font typeface="Raleway"/>
      <p:regular r:id="rId201317"/>
    </p:embeddedFont>
    <p:embeddedFont>
      <p:font typeface="Roboto"/>
      <p:regular r:id="rId201318"/>
    </p:embeddedFont>
    <p:embeddedFont>
      <p:font typeface="Roboto SemiBold"/>
      <p:regular r:id="rId201319"/>
    </p:embeddedFont>
    <p:embeddedFont>
      <p:font typeface="Roboto Bold"/>
      <p:regular r:id="rId201320"/>
    </p:embeddedFont>
    <p:embeddedFont>
      <p:font typeface="Roboto Black"/>
      <p:regular r:id="rId2013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jpeg"/><Relationship Id="rId3" Type="http://schemas.openxmlformats.org/officeDocument/2006/relationships/image" Target="../media/image-3-3.jpe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jpeg"/><Relationship Id="rId3" Type="http://schemas.openxmlformats.org/officeDocument/2006/relationships/image" Target="../media/image-10-3.jpeg"/><Relationship Id="rId4" Type="http://schemas.openxmlformats.org/officeDocument/2006/relationships/image" Target="../media/image-10-4.png"/><Relationship Id="rId5" Type="http://schemas.openxmlformats.org/officeDocument/2006/relationships/image" Target="../media/image-10-5.svg"/><Relationship Id="rId6" Type="http://schemas.openxmlformats.org/officeDocument/2006/relationships/image" Target="../media/image-10-6.png"/><Relationship Id="rId7" Type="http://schemas.openxmlformats.org/officeDocument/2006/relationships/image" Target="../media/image-10-7.svg"/><Relationship Id="rId8" Type="http://schemas.openxmlformats.org/officeDocument/2006/relationships/image" Target="../media/image-10-8.png"/><Relationship Id="rId9" Type="http://schemas.openxmlformats.org/officeDocument/2006/relationships/image" Target="../media/image-10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508224"/>
            <a:ext cx="6296860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Edge-AI Based Distributed Fleet Coordination for Autonomous Mobile Robots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3355777"/>
            <a:ext cx="629686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Decentralized Intelligence for Faster, Safer and More Resilient Smart Warehouses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4229795"/>
            <a:ext cx="6296860" cy="11198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Instead of depending on one central controller, every robot can perceive, decide, communicate and coordinate locally.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Tech Horizon 2.0 • Team / College Name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2387"/>
            <a:ext cx="10868745" cy="535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What’s Broken in Today’s Warehouse Robotics?</a:t>
            </a:r>
            <a:endParaRPr lang="en-US" sz="3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852712"/>
            <a:ext cx="6918350" cy="39204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04074" y="1445617"/>
            <a:ext cx="3532397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Centralized fleet challenges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8004074" y="1868388"/>
            <a:ext cx="3532397" cy="2045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Centralized bottleneck — single decision point</a:t>
            </a:r>
            <a:endParaRPr lang="en-US" sz="1300" dirty="0"/>
          </a:p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Network latency and Wi‑Fi dead zones</a:t>
            </a:r>
            <a:endParaRPr lang="en-US" sz="1300" dirty="0"/>
          </a:p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Single point of failure causes fleet pause</a:t>
            </a:r>
            <a:endParaRPr lang="en-US" sz="1300" dirty="0"/>
          </a:p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Stop‑and‑wait behavior at choke points</a:t>
            </a:r>
            <a:endParaRPr lang="en-US" sz="1300" dirty="0"/>
          </a:p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Inefficient task allocation; poor local adaptability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004074" y="4053880"/>
            <a:ext cx="3532397" cy="783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 scenario: Two robots reach a narrow aisle → both wait for central command → congestion and lost time.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8004074" y="5012234"/>
            <a:ext cx="3532397" cy="1148655"/>
          </a:xfrm>
          <a:prstGeom prst="roundRect">
            <a:avLst>
              <a:gd name="adj" fmla="val 6263"/>
            </a:avLst>
          </a:prstGeom>
          <a:solidFill>
            <a:srgbClr val="E1E1EA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5321" y="5244405"/>
            <a:ext cx="214109" cy="17125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560677" y="5194697"/>
            <a:ext cx="2804546" cy="783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 fleets scale, central coordination becomes a time and reliability bottleneck.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98352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Our Solution: Distributed Edge‑AI Fleet Intelligence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657673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Each AMR: Perceive → Decide → Communicate → Coordinate → Act</a:t>
            </a:r>
            <a:endParaRPr lang="en-US" sz="1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3172718"/>
            <a:ext cx="1004962" cy="62110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902670" y="3172718"/>
            <a:ext cx="222423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Local AI inference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1902670" y="3581400"/>
            <a:ext cx="2224230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Models run on-board (Jetson / CPU) for perception and short‑horizon planning.</a:t>
            </a:r>
            <a:endParaRPr lang="en-US" sz="14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3135" y="3172718"/>
            <a:ext cx="1004962" cy="62110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604330" y="3172718"/>
            <a:ext cx="222423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Peer negotiation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5604330" y="3581400"/>
            <a:ext cx="222423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Robots share position, intent and negotiate conflicts locally.</a:t>
            </a:r>
            <a:endParaRPr lang="en-US" sz="14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4794" y="3172718"/>
            <a:ext cx="1004962" cy="62110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305990" y="3172718"/>
            <a:ext cx="222423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Dynamic re‑planning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9305990" y="3876675"/>
            <a:ext cx="222423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Local re-routing and task reallocation without central approval.</a:t>
            </a:r>
            <a:endParaRPr lang="en-US" sz="1450" dirty="0"/>
          </a:p>
        </p:txBody>
      </p:sp>
      <p:sp>
        <p:nvSpPr>
          <p:cNvPr id="13" name="Shape 8"/>
          <p:cNvSpPr/>
          <p:nvPr/>
        </p:nvSpPr>
        <p:spPr>
          <a:xfrm>
            <a:off x="661475" y="5003701"/>
            <a:ext cx="10868745" cy="755948"/>
          </a:xfrm>
          <a:prstGeom prst="roundRect">
            <a:avLst>
              <a:gd name="adj" fmla="val 10502"/>
            </a:avLst>
          </a:prstGeom>
          <a:solidFill>
            <a:srgbClr val="E1E1EA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482" y="5271393"/>
            <a:ext cx="236234" cy="18901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75723" y="5239941"/>
            <a:ext cx="1067507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Central server remains optional for monitoring, analytics and high‑level management.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From Warehouse Event to Autonomous Action</a:t>
            </a:r>
            <a:endParaRPr lang="en-US" sz="18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72133" y="909538"/>
            <a:ext cx="6047331" cy="604738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9492" y="2090817"/>
            <a:ext cx="1948539" cy="30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Perceive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3659492" y="2483455"/>
            <a:ext cx="1948539" cy="366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LiDAR, camera, IMU sense environment.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594018" y="2090817"/>
            <a:ext cx="1948539" cy="30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Edge AI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6594018" y="2483455"/>
            <a:ext cx="1948539" cy="366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Local detection and short‑term prediction.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3659662" y="5025246"/>
            <a:ext cx="1948538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Local Decision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3659662" y="5417884"/>
            <a:ext cx="1948538" cy="366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Plan path and avoid collisions locally.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594018" y="5025246"/>
            <a:ext cx="1948539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Coordination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6594018" y="5417884"/>
            <a:ext cx="1948539" cy="366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P2P share position, intent, priority.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61475" y="7010003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Example: Robot A detects blocked aisle → broadcasts obstacle → Robot B receives → both re‑plan locally → fleet proceeds.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1089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How Do Robots Coordinate Without a Central Controller?</a:t>
            </a:r>
            <a:endParaRPr lang="en-US" sz="3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615605"/>
            <a:ext cx="5221851" cy="29591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14719" y="2010370"/>
            <a:ext cx="5221851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Peer Broadcasts (periodic)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6314719" y="2443163"/>
            <a:ext cx="5221851" cy="12396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74320" indent="-274320">
              <a:lnSpc>
                <a:spcPct val="128000"/>
              </a:lnSpc>
              <a:buSzPct val="100000"/>
              <a:buChar char="•"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Position • Velocity</a:t>
            </a:r>
            <a:endParaRPr lang="en-US" sz="1350" dirty="0"/>
          </a:p>
          <a:p>
            <a:pPr algn="l" marL="274320" indent="-274320">
              <a:lnSpc>
                <a:spcPct val="128000"/>
              </a:lnSpc>
              <a:buSzPct val="100000"/>
              <a:buChar char="•"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Current task • Planned path</a:t>
            </a:r>
            <a:endParaRPr lang="en-US" sz="1350" dirty="0"/>
          </a:p>
          <a:p>
            <a:pPr algn="l" marL="274320" indent="-274320">
              <a:lnSpc>
                <a:spcPct val="128000"/>
              </a:lnSpc>
              <a:buSzPct val="100000"/>
              <a:buChar char="•"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Intended direction • Obstacle info</a:t>
            </a:r>
            <a:endParaRPr lang="en-US" sz="1350" dirty="0"/>
          </a:p>
          <a:p>
            <a:pPr algn="l" marL="274320" indent="-274320">
              <a:lnSpc>
                <a:spcPct val="128000"/>
              </a:lnSpc>
              <a:buSzPct val="100000"/>
              <a:buChar char="•"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Priority level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314719" y="3843437"/>
            <a:ext cx="5221851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Conflict resolution (local)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314719" y="4276229"/>
            <a:ext cx="5221851" cy="12396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74320" indent="-274320">
              <a:lnSpc>
                <a:spcPct val="128000"/>
              </a:lnSpc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Detect path overlap</a:t>
            </a:r>
            <a:endParaRPr lang="en-US" sz="1350" dirty="0"/>
          </a:p>
          <a:p>
            <a:pPr algn="l" marL="274320" indent="-274320">
              <a:lnSpc>
                <a:spcPct val="128000"/>
              </a:lnSpc>
              <a:buSzPct val="100000"/>
              <a:buFont typeface="+mj-lt"/>
              <a:buAutoNum type="arabicPeriod" startAt="2"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Compare priority / ETA</a:t>
            </a:r>
            <a:endParaRPr lang="en-US" sz="1350" dirty="0"/>
          </a:p>
          <a:p>
            <a:pPr algn="l" marL="274320" indent="-274320">
              <a:lnSpc>
                <a:spcPct val="128000"/>
              </a:lnSpc>
              <a:buSzPct val="100000"/>
              <a:buFont typeface="+mj-lt"/>
              <a:buAutoNum type="arabicPeriod" startAt="3"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Negotiate: adjust speed or replan</a:t>
            </a:r>
            <a:endParaRPr lang="en-US" sz="1350" dirty="0"/>
          </a:p>
          <a:p>
            <a:pPr algn="l" marL="274320" indent="-274320">
              <a:lnSpc>
                <a:spcPct val="128000"/>
              </a:lnSpc>
              <a:buSzPct val="100000"/>
              <a:buFont typeface="+mj-lt"/>
              <a:buAutoNum type="arabicPeriod" startAt="4"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Confirm and continue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314719" y="5660430"/>
            <a:ext cx="5221851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Key: distributed decisions and deadlock prevention — robots negotiate instead of simply stopping.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3491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Intelligence Running at the Edge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503587"/>
            <a:ext cx="2575357" cy="2304355"/>
          </a:xfrm>
          <a:prstGeom prst="roundRect">
            <a:avLst>
              <a:gd name="adj" fmla="val 344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6832" y="2698948"/>
            <a:ext cx="218464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Perception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56832" y="3107630"/>
            <a:ext cx="2184643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Lightweight detection (YOLO variants), semantic cues, LiDAR-based obstacle sensing.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3425839" y="2503587"/>
            <a:ext cx="2575456" cy="2304355"/>
          </a:xfrm>
          <a:prstGeom prst="roundRect">
            <a:avLst>
              <a:gd name="adj" fmla="val 344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21195" y="2698948"/>
            <a:ext cx="218474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Localization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3621195" y="3107630"/>
            <a:ext cx="218474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SLAM + IMU + odometry fusion for robust pose estimate.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190301" y="2503587"/>
            <a:ext cx="2575456" cy="2304355"/>
          </a:xfrm>
          <a:prstGeom prst="roundRect">
            <a:avLst>
              <a:gd name="adj" fmla="val 344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85658" y="2698948"/>
            <a:ext cx="218474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Path Planning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6385658" y="3107630"/>
            <a:ext cx="218474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A* / D* Lite with dynamic replanning and velocity profiling for safety.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954764" y="2503587"/>
            <a:ext cx="2575456" cy="2304355"/>
          </a:xfrm>
          <a:prstGeom prst="roundRect">
            <a:avLst>
              <a:gd name="adj" fmla="val 344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50121" y="2698948"/>
            <a:ext cx="2184742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Multi‑Agent Coordination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9150121" y="3402905"/>
            <a:ext cx="2184742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Priority negotiation, distributed task allocation, conflict detection.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61475" y="5020568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Edge targets: NVIDIA Jetson-class, industrial ARM boards, or equivalent — optimized models for latency and power.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6951"/>
            <a:ext cx="10868745" cy="544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End‑to‑End System Architecture</a:t>
            </a:r>
            <a:endParaRPr lang="en-US" sz="3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493044"/>
            <a:ext cx="4657112" cy="465722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49980" y="1954113"/>
            <a:ext cx="5786491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Device Layer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5749980" y="2386905"/>
            <a:ext cx="5786491" cy="591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74320" indent="-274320">
              <a:lnSpc>
                <a:spcPct val="128000"/>
              </a:lnSpc>
              <a:buSzPct val="100000"/>
              <a:buChar char="•"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Edge inference, local planning, P2P low‑latency comms</a:t>
            </a:r>
            <a:endParaRPr lang="en-US" sz="1350" dirty="0"/>
          </a:p>
          <a:p>
            <a:pPr algn="l" marL="274320" indent="-274320">
              <a:lnSpc>
                <a:spcPct val="128000"/>
              </a:lnSpc>
              <a:buSzPct val="100000"/>
              <a:buChar char="•"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Resilient: continues if server unavailable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5749980" y="3139281"/>
            <a:ext cx="5786491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Edge Server Layer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5749980" y="3572073"/>
            <a:ext cx="5786491" cy="591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74320" indent="-274320">
              <a:lnSpc>
                <a:spcPct val="128000"/>
              </a:lnSpc>
              <a:buSzPct val="100000"/>
              <a:buChar char="•"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Global map, model management, monitoring</a:t>
            </a:r>
            <a:endParaRPr lang="en-US" sz="1350" dirty="0"/>
          </a:p>
          <a:p>
            <a:pPr algn="l" marL="274320" indent="-274320">
              <a:lnSpc>
                <a:spcPct val="128000"/>
              </a:lnSpc>
              <a:buSzPct val="100000"/>
              <a:buChar char="•"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Optional central task allocation and analytics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749980" y="4324449"/>
            <a:ext cx="5786491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Optional Cloud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749980" y="4757241"/>
            <a:ext cx="6396076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274320" indent="-274320">
              <a:lnSpc>
                <a:spcPct val="128000"/>
              </a:lnSpc>
              <a:buSzPct val="100000"/>
              <a:buChar char="•"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Long‑term analytics, dashboards, OTA updates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5749980" y="5169595"/>
            <a:ext cx="5786491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Protocols: ROS2 / DDS, WebRTC DataChannel, gRPC; Networks: Wi‑Fi6 / 5G / TSN where available.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2595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Why Distributed Edge‑AI?</a:t>
            </a:r>
            <a:endParaRPr lang="en-US" sz="37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2294632"/>
          <a:ext cx="9143771" cy="914400"/>
        </p:xfrm>
        <a:graphic>
          <a:graphicData uri="http://schemas.openxmlformats.org/drawingml/2006/table">
            <a:tbl>
              <a:tblPr/>
              <a:tblGrid>
                <a:gridCol w="5434373"/>
                <a:gridCol w="5434373"/>
              </a:tblGrid>
              <a:tr h="54191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Centralized Approach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Distributed Edge‑AI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  <a:tr h="54191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Central bottleneck; single point of failure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Local decision making; no single decision bottleneck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  <a:tr h="54191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High dependency on network; greater latency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Low‑latency local response; P2P coordination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  <a:tr h="54191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Poor resilience during outages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Continues operating during network disruption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  <a:tr h="54191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Limited local autonomy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Scales across larger fleets with peer negotiation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61475" y="5229622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Three priority outcomes: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LOWER LATENCY • HIGHER RESILIENCE • BETTER FLEET UTILIZATION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9955"/>
            <a:ext cx="10868745" cy="470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Demo Plan &amp; Success Criteria</a:t>
            </a:r>
            <a:endParaRPr lang="en-US" sz="2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789013"/>
            <a:ext cx="6936011" cy="39304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71333" y="1360488"/>
            <a:ext cx="3565138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Demo scenario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7971333" y="1715790"/>
            <a:ext cx="3565138" cy="16833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33680" indent="-233680">
              <a:lnSpc>
                <a:spcPct val="120000"/>
              </a:lnSpc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3–5 AMRs, pickup/drop zones, narrow aisles</a:t>
            </a:r>
            <a:endParaRPr lang="en-US" sz="1150" dirty="0"/>
          </a:p>
          <a:p>
            <a:pPr algn="l" marL="233680" indent="-233680">
              <a:lnSpc>
                <a:spcPct val="120000"/>
              </a:lnSpc>
              <a:buSzPct val="100000"/>
              <a:buFont typeface="+mj-lt"/>
              <a:buAutoNum type="arabicPeriod" startAt="2"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Overlapping tasks and a choke point</a:t>
            </a:r>
            <a:endParaRPr lang="en-US" sz="1150" dirty="0"/>
          </a:p>
          <a:p>
            <a:pPr algn="l" marL="233680" indent="-233680">
              <a:lnSpc>
                <a:spcPct val="120000"/>
              </a:lnSpc>
              <a:buSzPct val="100000"/>
              <a:buFont typeface="+mj-lt"/>
              <a:buAutoNum type="arabicPeriod" startAt="3"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Robots detect conflict, negotiate priority, replan</a:t>
            </a:r>
            <a:endParaRPr lang="en-US" sz="1150" dirty="0"/>
          </a:p>
          <a:p>
            <a:pPr algn="l" marL="233680" indent="-233680">
              <a:lnSpc>
                <a:spcPct val="120000"/>
              </a:lnSpc>
              <a:buSzPct val="100000"/>
              <a:buFont typeface="+mj-lt"/>
              <a:buAutoNum type="arabicPeriod" startAt="4"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Dynamic obstacle blocks aisle → broadcast → fleet reroutes</a:t>
            </a:r>
            <a:endParaRPr lang="en-US" sz="1150" dirty="0"/>
          </a:p>
          <a:p>
            <a:pPr algn="l" marL="233680" indent="-233680">
              <a:lnSpc>
                <a:spcPct val="120000"/>
              </a:lnSpc>
              <a:buSzPct val="100000"/>
              <a:buFont typeface="+mj-lt"/>
              <a:buAutoNum type="arabicPeriod" startAt="5"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Simulated network disruption to validate local continuity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7971333" y="3519091"/>
            <a:ext cx="3565138" cy="4706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Success metrics (TARGET / VALIDATION)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7971333" y="4109740"/>
            <a:ext cx="3565138" cy="2116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Zero inter‑robot collisions</a:t>
            </a:r>
            <a:endParaRPr lang="en-US" sz="1150" dirty="0"/>
          </a:p>
          <a:p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Successful conflict resolution and dynamic re‑routing</a:t>
            </a:r>
            <a:endParaRPr lang="en-US" sz="1150" dirty="0"/>
          </a:p>
          <a:p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Reduced waiting time and total task completion time</a:t>
            </a:r>
            <a:endParaRPr lang="en-US" sz="1150" dirty="0"/>
          </a:p>
          <a:p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Continued operation during network disruption</a:t>
            </a:r>
            <a:endParaRPr lang="en-US" sz="1150" dirty="0"/>
          </a:p>
          <a:p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Target:</a:t>
            </a:r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≥20% reduction in total task completion time vs basic stop‑and‑wait strategy (expected / to be validated)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8758"/>
            <a:ext cx="10868745" cy="378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From Smart Robots to an Autonomous Warehouse Fleet</a:t>
            </a:r>
            <a:endParaRPr lang="en-US" sz="2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825" y="1152327"/>
            <a:ext cx="3554125" cy="3554214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8785" y="1152327"/>
            <a:ext cx="3554125" cy="3554214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9745" y="1152327"/>
            <a:ext cx="3554125" cy="3554214"/>
          </a:xfrm>
          <a:prstGeom prst="rect">
            <a:avLst/>
          </a:prstGeom>
        </p:spPr>
      </p:pic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4873923"/>
            <a:ext cx="302709" cy="302716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661475" y="5273576"/>
            <a:ext cx="3558292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Real benefits</a:t>
            </a:r>
            <a:endParaRPr lang="en-US" sz="1150" dirty="0"/>
          </a:p>
        </p:txBody>
      </p:sp>
      <p:sp>
        <p:nvSpPr>
          <p:cNvPr id="8" name="Text 2"/>
          <p:cNvSpPr/>
          <p:nvPr/>
        </p:nvSpPr>
        <p:spPr>
          <a:xfrm>
            <a:off x="661475" y="5509320"/>
            <a:ext cx="3558292" cy="31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Real‑time coordination • Reduced congestion • Better fleet utilization • Resilient operation</a:t>
            </a:r>
            <a:endParaRPr lang="en-US" sz="950" dirty="0"/>
          </a:p>
        </p:txBody>
      </p:sp>
      <p:pic>
        <p:nvPicPr>
          <p:cNvPr id="9" name="Image 4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16701" y="4873923"/>
            <a:ext cx="302709" cy="302716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4316701" y="5273576"/>
            <a:ext cx="3558292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Roadmap</a:t>
            </a:r>
            <a:endParaRPr lang="en-US" sz="1150" dirty="0"/>
          </a:p>
        </p:txBody>
      </p:sp>
      <p:sp>
        <p:nvSpPr>
          <p:cNvPr id="11" name="Text 4"/>
          <p:cNvSpPr/>
          <p:nvPr/>
        </p:nvSpPr>
        <p:spPr>
          <a:xfrm>
            <a:off x="4316701" y="5509320"/>
            <a:ext cx="3558292" cy="31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Federated learning • Digital twin • Multi‑warehouse coordination • Human‑robot collaboration</a:t>
            </a:r>
            <a:endParaRPr lang="en-US" sz="950" dirty="0"/>
          </a:p>
        </p:txBody>
      </p:sp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971928" y="4873923"/>
            <a:ext cx="302709" cy="302716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7971928" y="5273576"/>
            <a:ext cx="3558292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Final pitch</a:t>
            </a:r>
            <a:endParaRPr lang="en-US" sz="1150" dirty="0"/>
          </a:p>
        </p:txBody>
      </p:sp>
      <p:sp>
        <p:nvSpPr>
          <p:cNvPr id="14" name="Text 6"/>
          <p:cNvSpPr/>
          <p:nvPr/>
        </p:nvSpPr>
        <p:spPr>
          <a:xfrm>
            <a:off x="7971928" y="5509320"/>
            <a:ext cx="3558292" cy="31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Traditional fleets wait for instructions. Our fleet perceives, negotiates, adapts and acts.</a:t>
            </a:r>
            <a:endParaRPr lang="en-US" sz="950" dirty="0"/>
          </a:p>
        </p:txBody>
      </p:sp>
      <p:sp>
        <p:nvSpPr>
          <p:cNvPr id="15" name="Text 7"/>
          <p:cNvSpPr/>
          <p:nvPr/>
        </p:nvSpPr>
        <p:spPr>
          <a:xfrm>
            <a:off x="661475" y="5914231"/>
            <a:ext cx="10868745" cy="40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spcAft>
                <a:spcPts val="650"/>
              </a:spcAft>
              <a:buNone/>
            </a:pPr>
            <a:r>
              <a:rPr lang="en-US" sz="9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Distributed by design. Intelligent at the edge. Autonomous as a fleet.</a:t>
            </a:r>
            <a:endParaRPr lang="en-US" sz="950" dirty="0"/>
          </a:p>
          <a:p>
            <a:pPr algn="l" indent="0" marL="0">
              <a:lnSpc>
                <a:spcPct val="109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Contact: Tech Horizon 2.0 Team • Demo ready for Tech Horizon 2.0 Hyderabad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2026-09-04T18:12:22Z</dcterms:created>
  <dcterms:modified xsi:type="dcterms:W3CDTF">2026-09-04T18:12:22Z</dcterms:modified>
</cp:coreProperties>
</file>